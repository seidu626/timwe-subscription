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1236" r:id="rId2"/>
    <p:sldId id="1239" r:id="rId3"/>
    <p:sldId id="670" r:id="rId4"/>
    <p:sldId id="1237" r:id="rId5"/>
    <p:sldId id="123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6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5E6AB6-4000-48DC-AD5F-F7A3B62F37EE}" type="datetimeFigureOut">
              <a:rPr lang="en-GB" smtClean="0"/>
              <a:t>25/05/2020</a:t>
            </a:fld>
            <a:endParaRPr lang="en-GB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6D07AE-1547-4BE9-9DCB-D82D5E6C80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786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From website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D83B-9B8F-AA49-9506-F8C37125F7F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18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544F6B-5BD1-40DC-99CB-C00654C24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619180-6977-4270-8D44-03D526ABE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D7BA971-B01C-4E1F-9303-5B1E3D796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11F3D-EAA8-4D71-BC0D-FDB348407771}" type="datetimeFigureOut">
              <a:rPr lang="en-GB" smtClean="0"/>
              <a:t>25/05/2020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9F92927-327C-440F-8000-09ADD597E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E06C10C-0EAE-49B1-A10F-0F9D52F6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7C9CD-AE79-4000-87FE-85640F9018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236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62805-18BE-47D7-B287-85C142C6B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D44C344-8E28-4AFE-A8B3-9414352C3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513BCBC-9A73-4E3F-A918-A8BF94607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11F3D-EAA8-4D71-BC0D-FDB348407771}" type="datetimeFigureOut">
              <a:rPr lang="en-GB" smtClean="0"/>
              <a:t>25/05/2020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D0EAE14-2977-441B-AC79-186636423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3F2C1F4-45D4-4E10-A890-975EA8446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7C9CD-AE79-4000-87FE-85640F9018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2413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4E07BF-9D70-4881-A676-E453D13D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7938E59-C590-41DE-9BA5-13D0B490F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DEDB694-7058-447D-956A-182272BF5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11F3D-EAA8-4D71-BC0D-FDB348407771}" type="datetimeFigureOut">
              <a:rPr lang="en-GB" smtClean="0"/>
              <a:t>25/05/2020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9E704BC-03C7-4850-9DDF-241AA03FC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C2A9404-0D4A-4343-8BDF-BE87EF7C4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7C9CD-AE79-4000-87FE-85640F9018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435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974E82-AB79-4D52-BF8D-63D7C28D5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E1D185C-8C88-4B79-BF9E-D9BD99D31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2AF8A2EE-1612-4F2A-AF93-931B8CD42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D558B9AE-6028-4CBA-9D55-E4150823C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11F3D-EAA8-4D71-BC0D-FDB348407771}" type="datetimeFigureOut">
              <a:rPr lang="en-GB" smtClean="0"/>
              <a:t>25/05/2020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44C9D04-175A-49BE-B37C-84B0CD266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8792188-9368-4383-AB12-81FC6BC89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7C9CD-AE79-4000-87FE-85640F9018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293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4B4DF-FC3C-46F7-BC15-ED7D31712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57EAB87-8BBF-4D0E-9B30-5BDF02E9F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4228842-D58B-4192-8C8F-65CE4F2EC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0C771483-D4DA-4D94-83A3-D32CA5B26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7E5178C8-FCE8-4FCB-88CA-EF1069E0C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1085EC5B-195C-4339-BBC1-4AD3D7576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11F3D-EAA8-4D71-BC0D-FDB348407771}" type="datetimeFigureOut">
              <a:rPr lang="en-GB" smtClean="0"/>
              <a:t>25/05/2020</a:t>
            </a:fld>
            <a:endParaRPr lang="en-GB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28FAA866-BD2E-48CF-B008-6C3336BE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00E903BB-AC3B-4632-B2CB-263E8BF60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7C9CD-AE79-4000-87FE-85640F9018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388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533D6E-7E92-477A-B551-0E59DABA5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44C0AC30-05B2-499F-B836-A32AC19D4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11F3D-EAA8-4D71-BC0D-FDB348407771}" type="datetimeFigureOut">
              <a:rPr lang="en-GB" smtClean="0"/>
              <a:t>25/05/2020</a:t>
            </a:fld>
            <a:endParaRPr lang="en-GB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BF534028-3FFB-419D-B2FE-A95D296A5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E4E9B57-AECC-4DD6-BB40-7D7F68A36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7C9CD-AE79-4000-87FE-85640F9018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216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1B356F39-5550-4046-B64B-5A46DDADB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11F3D-EAA8-4D71-BC0D-FDB348407771}" type="datetimeFigureOut">
              <a:rPr lang="en-GB" smtClean="0"/>
              <a:t>25/05/2020</a:t>
            </a:fld>
            <a:endParaRPr lang="en-GB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B3411382-52CE-4DC0-86B2-D179B04E6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69C04FF-292B-40A1-B6D0-FCF0AD54C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7C9CD-AE79-4000-87FE-85640F9018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92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FF52F6-688C-4FF0-B078-F61F544A4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9C3E002-0FAA-43C1-95B2-C392A6014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5746911-1FD7-4327-B471-D9C996F0C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65BC4CB-6FC1-4262-BFF2-7A73D0549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11F3D-EAA8-4D71-BC0D-FDB348407771}" type="datetimeFigureOut">
              <a:rPr lang="en-GB" smtClean="0"/>
              <a:t>25/05/2020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3A22379-E83F-42FE-A780-F4005237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FFB77123-96FF-4671-9377-2630933AC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7C9CD-AE79-4000-87FE-85640F9018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263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02630-921A-4560-A6E2-B187403B9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448B5379-7028-4C36-AFC8-B29516E9A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3AF9161-AC51-4987-B2EE-5B3C0D0F1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119220D-AE9E-4015-A8E5-A949EF35D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11F3D-EAA8-4D71-BC0D-FDB348407771}" type="datetimeFigureOut">
              <a:rPr lang="en-GB" smtClean="0"/>
              <a:t>25/05/2020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397359A-5E55-45AF-9C81-B81743826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0D6539D-CF35-40FF-BB40-5432BF06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7C9CD-AE79-4000-87FE-85640F9018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596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68363-0FB0-4912-A5A0-3BD98E2C8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0E08A80-9791-4B40-BBD1-371E8A74B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349BF86-7BD4-4485-BE88-B792FA2C7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11F3D-EAA8-4D71-BC0D-FDB348407771}" type="datetimeFigureOut">
              <a:rPr lang="en-GB" smtClean="0"/>
              <a:t>25/05/2020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7F3B158-7BB3-40D5-8949-AB23274BF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007542B-B56E-4111-8968-1F16C265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7C9CD-AE79-4000-87FE-85640F9018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96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0F5C812-4CB4-41E6-9183-659088B01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A4FECAE-2562-46F8-B2F0-21F2A5286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2F6724C-F438-4B79-959E-1C54E1E66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11F3D-EAA8-4D71-BC0D-FDB348407771}" type="datetimeFigureOut">
              <a:rPr lang="en-GB" smtClean="0"/>
              <a:t>25/05/2020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E61A74B-1AB5-4445-A848-B9F53FDF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26BAEB5-1EF3-4481-BD46-C92497CB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7C9CD-AE79-4000-87FE-85640F9018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121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Simpl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89416" y="6283755"/>
            <a:ext cx="6163637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mr-IN" dirty="0"/>
              <a:t>©                              All Rights Reserved.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31075" y="6274877"/>
            <a:ext cx="652183" cy="365125"/>
          </a:xfrm>
        </p:spPr>
        <p:txBody>
          <a:bodyPr/>
          <a:lstStyle>
            <a:lvl1pPr>
              <a:defRPr sz="1600" b="1">
                <a:solidFill>
                  <a:srgbClr val="00AECD"/>
                </a:solidFill>
              </a:defRPr>
            </a:lvl1pPr>
          </a:lstStyle>
          <a:p>
            <a:fld id="{9C984C82-A541-7646-A44A-C1929840C773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1019517" y="6341113"/>
            <a:ext cx="0" cy="246389"/>
          </a:xfrm>
          <a:prstGeom prst="line">
            <a:avLst/>
          </a:prstGeom>
          <a:ln w="19050">
            <a:solidFill>
              <a:srgbClr val="00AE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6125" y="6433156"/>
            <a:ext cx="889629" cy="77501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1366124" y="1"/>
            <a:ext cx="10825875" cy="600074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>
            <a:lvl1pPr marL="127000" indent="0">
              <a:tabLst/>
              <a:defRPr sz="1600" b="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SLIDE NAME</a:t>
            </a:r>
            <a:endParaRPr lang="en-GB" dirty="0"/>
          </a:p>
        </p:txBody>
      </p:sp>
      <p:sp>
        <p:nvSpPr>
          <p:cNvPr id="16" name="bk object 16"/>
          <p:cNvSpPr/>
          <p:nvPr userDrawn="1"/>
        </p:nvSpPr>
        <p:spPr>
          <a:xfrm>
            <a:off x="0" y="0"/>
            <a:ext cx="1366125" cy="600075"/>
          </a:xfrm>
          <a:custGeom>
            <a:avLst/>
            <a:gdLst/>
            <a:ahLst/>
            <a:cxnLst/>
            <a:rect l="l" t="t" r="r" b="b"/>
            <a:pathLst>
              <a:path w="3822700" h="1626870">
                <a:moveTo>
                  <a:pt x="0" y="1626590"/>
                </a:moveTo>
                <a:lnTo>
                  <a:pt x="3822700" y="1626590"/>
                </a:lnTo>
                <a:lnTo>
                  <a:pt x="3822700" y="0"/>
                </a:lnTo>
                <a:lnTo>
                  <a:pt x="0" y="0"/>
                </a:lnTo>
                <a:lnTo>
                  <a:pt x="0" y="1626590"/>
                </a:lnTo>
                <a:close/>
              </a:path>
            </a:pathLst>
          </a:custGeom>
          <a:solidFill>
            <a:srgbClr val="00AEC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831" y="189573"/>
            <a:ext cx="792463" cy="22092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4702BC5-03A0-473D-8DC6-91EDDD683F82}"/>
              </a:ext>
            </a:extLst>
          </p:cNvPr>
          <p:cNvCxnSpPr>
            <a:cxnSpLocks/>
          </p:cNvCxnSpPr>
          <p:nvPr userDrawn="1"/>
        </p:nvCxnSpPr>
        <p:spPr>
          <a:xfrm>
            <a:off x="0" y="600075"/>
            <a:ext cx="12192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41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766D516B-A4FB-4D98-B2D5-2D251C189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5795AB2-E689-49D9-95B8-81737F8F1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79BA168-4F4D-4373-9400-25D94CCDC5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11F3D-EAA8-4D71-BC0D-FDB348407771}" type="datetimeFigureOut">
              <a:rPr lang="en-GB" smtClean="0"/>
              <a:t>25/05/2020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541147B-B2E1-458D-AED6-ED7A5DD2F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EF11AED-35AC-4B2F-AEE4-D6295B6DC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7C9CD-AE79-4000-87FE-85640F9018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801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"/>
          <p:cNvSpPr txBox="1">
            <a:spLocks/>
          </p:cNvSpPr>
          <p:nvPr/>
        </p:nvSpPr>
        <p:spPr>
          <a:xfrm>
            <a:off x="461391" y="6310265"/>
            <a:ext cx="6163637" cy="36512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/>
              <a:t>LISBON </a:t>
            </a:r>
            <a:r>
              <a:rPr lang="pt-PT" sz="1400" dirty="0">
                <a:solidFill>
                  <a:srgbClr val="00B0F0"/>
                </a:solidFill>
              </a:rPr>
              <a:t>|</a:t>
            </a:r>
            <a:r>
              <a:rPr lang="pt-PT" sz="1400" dirty="0"/>
              <a:t> PRIVATE &amp; CONFIDENTIAL</a:t>
            </a:r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2005A3-8702-457F-B8BF-BA99B8261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0769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45039" y="6402394"/>
            <a:ext cx="2076181" cy="1808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2385059" y="-586735"/>
            <a:ext cx="1463041" cy="6233159"/>
          </a:xfrm>
          <a:prstGeom prst="rect">
            <a:avLst/>
          </a:prstGeom>
          <a:gradFill>
            <a:gsLst>
              <a:gs pos="60000">
                <a:srgbClr val="00AECD">
                  <a:alpha val="55000"/>
                </a:srgbClr>
              </a:gs>
              <a:gs pos="100000">
                <a:srgbClr val="00AECD"/>
              </a:gs>
              <a:gs pos="0">
                <a:srgbClr val="00AECD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48503" y="2172816"/>
            <a:ext cx="9739424" cy="71405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 baseline="0">
                <a:solidFill>
                  <a:srgbClr val="00AECD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z="3600" dirty="0">
                <a:solidFill>
                  <a:schemeClr val="bg1"/>
                </a:solidFill>
              </a:rPr>
              <a:t>Consent Gateway Campaign Flow</a:t>
            </a:r>
          </a:p>
          <a:p>
            <a:r>
              <a:rPr lang="en-GB" sz="3200" b="0" dirty="0">
                <a:solidFill>
                  <a:schemeClr val="bg1"/>
                </a:solidFill>
              </a:rPr>
              <a:t>Ghana | Airteltigo</a:t>
            </a:r>
          </a:p>
        </p:txBody>
      </p:sp>
    </p:spTree>
    <p:extLst>
      <p:ext uri="{BB962C8B-B14F-4D97-AF65-F5344CB8AC3E}">
        <p14:creationId xmlns:p14="http://schemas.microsoft.com/office/powerpoint/2010/main" val="2245662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873A-D9E9-463D-9411-7BED4864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Introducing DOI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9D1DF-BCDD-45DE-9732-5C38DA52722C}"/>
              </a:ext>
            </a:extLst>
          </p:cNvPr>
          <p:cNvSpPr/>
          <p:nvPr/>
        </p:nvSpPr>
        <p:spPr>
          <a:xfrm>
            <a:off x="613314" y="2118732"/>
            <a:ext cx="1773044" cy="15165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Content Provider Banner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3F2D2B2-3316-492E-BCDB-D7E7A752386B}"/>
              </a:ext>
            </a:extLst>
          </p:cNvPr>
          <p:cNvCxnSpPr/>
          <p:nvPr/>
        </p:nvCxnSpPr>
        <p:spPr>
          <a:xfrm>
            <a:off x="2497871" y="2877014"/>
            <a:ext cx="8028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88BD143-BC64-4B9F-A4B6-11864335B639}"/>
              </a:ext>
            </a:extLst>
          </p:cNvPr>
          <p:cNvSpPr/>
          <p:nvPr/>
        </p:nvSpPr>
        <p:spPr>
          <a:xfrm>
            <a:off x="3412271" y="2118732"/>
            <a:ext cx="1773044" cy="15165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TWT LP with CP product details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329747-1854-4DE7-84BF-0E0143BDDC74}"/>
              </a:ext>
            </a:extLst>
          </p:cNvPr>
          <p:cNvCxnSpPr/>
          <p:nvPr/>
        </p:nvCxnSpPr>
        <p:spPr>
          <a:xfrm>
            <a:off x="5296828" y="2877013"/>
            <a:ext cx="8028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F8CFD00-C99A-403B-8E98-26233C75CAB3}"/>
              </a:ext>
            </a:extLst>
          </p:cNvPr>
          <p:cNvSpPr/>
          <p:nvPr/>
        </p:nvSpPr>
        <p:spPr>
          <a:xfrm>
            <a:off x="6211228" y="2118731"/>
            <a:ext cx="1773044" cy="15165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TWT LP for DOI with HE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448042-E031-4180-9DF4-FBD355B2609E}"/>
              </a:ext>
            </a:extLst>
          </p:cNvPr>
          <p:cNvCxnSpPr/>
          <p:nvPr/>
        </p:nvCxnSpPr>
        <p:spPr>
          <a:xfrm>
            <a:off x="8151543" y="2877012"/>
            <a:ext cx="8028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2884D1-4492-41AA-ADD3-7A2FF254B8E5}"/>
              </a:ext>
            </a:extLst>
          </p:cNvPr>
          <p:cNvSpPr/>
          <p:nvPr/>
        </p:nvSpPr>
        <p:spPr>
          <a:xfrm>
            <a:off x="9065943" y="2118730"/>
            <a:ext cx="1773044" cy="15165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Success and confirmation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6A8B691-1BC7-42D8-92FA-DEA4B07F861D}"/>
              </a:ext>
            </a:extLst>
          </p:cNvPr>
          <p:cNvCxnSpPr/>
          <p:nvPr/>
        </p:nvCxnSpPr>
        <p:spPr>
          <a:xfrm>
            <a:off x="2888163" y="3088888"/>
            <a:ext cx="0" cy="1683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067B8D-B50C-4C14-99EF-CA8770D354D9}"/>
              </a:ext>
            </a:extLst>
          </p:cNvPr>
          <p:cNvCxnSpPr>
            <a:cxnSpLocks/>
          </p:cNvCxnSpPr>
          <p:nvPr/>
        </p:nvCxnSpPr>
        <p:spPr>
          <a:xfrm>
            <a:off x="9943168" y="3743093"/>
            <a:ext cx="0" cy="1129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E309A42-0509-4720-93DC-63B41D548F1E}"/>
              </a:ext>
            </a:extLst>
          </p:cNvPr>
          <p:cNvSpPr/>
          <p:nvPr/>
        </p:nvSpPr>
        <p:spPr>
          <a:xfrm>
            <a:off x="1851100" y="5129561"/>
            <a:ext cx="2096427" cy="3568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dirty="0">
                <a:solidFill>
                  <a:schemeClr val="tx1"/>
                </a:solidFill>
              </a:rPr>
              <a:t>CP calls the new flow for subscription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EFE3DA-A708-4D60-A465-D90F91F62B2E}"/>
              </a:ext>
            </a:extLst>
          </p:cNvPr>
          <p:cNvSpPr/>
          <p:nvPr/>
        </p:nvSpPr>
        <p:spPr>
          <a:xfrm>
            <a:off x="8567858" y="5129555"/>
            <a:ext cx="2769213" cy="3568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dirty="0">
                <a:solidFill>
                  <a:schemeClr val="tx1"/>
                </a:solidFill>
              </a:rPr>
              <a:t>CP receives confirmation of subscription or TWT redirect to CP page</a:t>
            </a:r>
          </a:p>
        </p:txBody>
      </p:sp>
    </p:spTree>
    <p:extLst>
      <p:ext uri="{BB962C8B-B14F-4D97-AF65-F5344CB8AC3E}">
        <p14:creationId xmlns:p14="http://schemas.microsoft.com/office/powerpoint/2010/main" val="345012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A5A203-8032-4C33-9809-D66132B52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EXAMPLE – HE FLOW</a:t>
            </a:r>
            <a:endParaRPr lang="en-GB" dirty="0"/>
          </a:p>
        </p:txBody>
      </p:sp>
      <p:cxnSp>
        <p:nvCxnSpPr>
          <p:cNvPr id="7" name="Conexão reta unidirecional 6">
            <a:extLst>
              <a:ext uri="{FF2B5EF4-FFF2-40B4-BE49-F238E27FC236}">
                <a16:creationId xmlns:a16="http://schemas.microsoft.com/office/drawing/2014/main" id="{A3E28A8C-3D42-4D92-94BC-0D33716416AF}"/>
              </a:ext>
            </a:extLst>
          </p:cNvPr>
          <p:cNvCxnSpPr>
            <a:cxnSpLocks/>
          </p:cNvCxnSpPr>
          <p:nvPr/>
        </p:nvCxnSpPr>
        <p:spPr>
          <a:xfrm>
            <a:off x="1073086" y="1601253"/>
            <a:ext cx="10362558" cy="0"/>
          </a:xfrm>
          <a:prstGeom prst="straightConnector1">
            <a:avLst/>
          </a:prstGeom>
          <a:ln>
            <a:solidFill>
              <a:srgbClr val="2680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0E781E90-AA85-4102-90D1-2FFF5BC10F1D}"/>
              </a:ext>
            </a:extLst>
          </p:cNvPr>
          <p:cNvSpPr/>
          <p:nvPr/>
        </p:nvSpPr>
        <p:spPr>
          <a:xfrm>
            <a:off x="2136681" y="1361355"/>
            <a:ext cx="446568" cy="446568"/>
          </a:xfrm>
          <a:prstGeom prst="ellipse">
            <a:avLst/>
          </a:prstGeom>
          <a:solidFill>
            <a:srgbClr val="268026"/>
          </a:solidFill>
          <a:ln>
            <a:solidFill>
              <a:srgbClr val="268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1</a:t>
            </a:r>
            <a:endParaRPr lang="en-GB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12EB590-A838-4416-9D8E-BBD5DCE0A485}"/>
              </a:ext>
            </a:extLst>
          </p:cNvPr>
          <p:cNvSpPr/>
          <p:nvPr/>
        </p:nvSpPr>
        <p:spPr>
          <a:xfrm>
            <a:off x="5872716" y="1382779"/>
            <a:ext cx="446568" cy="446568"/>
          </a:xfrm>
          <a:prstGeom prst="ellipse">
            <a:avLst/>
          </a:prstGeom>
          <a:solidFill>
            <a:srgbClr val="268026"/>
          </a:solidFill>
          <a:ln>
            <a:solidFill>
              <a:srgbClr val="268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2</a:t>
            </a:r>
            <a:endParaRPr lang="en-GB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F2CD23B-F0D3-46A4-913F-00EB78336DE1}"/>
              </a:ext>
            </a:extLst>
          </p:cNvPr>
          <p:cNvSpPr/>
          <p:nvPr/>
        </p:nvSpPr>
        <p:spPr>
          <a:xfrm>
            <a:off x="9545612" y="1402952"/>
            <a:ext cx="446568" cy="446568"/>
          </a:xfrm>
          <a:prstGeom prst="ellipse">
            <a:avLst/>
          </a:prstGeom>
          <a:solidFill>
            <a:srgbClr val="268026"/>
          </a:solidFill>
          <a:ln>
            <a:solidFill>
              <a:srgbClr val="268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3</a:t>
            </a:r>
            <a:endParaRPr lang="en-GB" dirty="0"/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0A537FB9-6ABA-4EE7-8E22-FD7CCA71A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86" y="1943557"/>
            <a:ext cx="2443100" cy="4284920"/>
          </a:xfrm>
          <a:prstGeom prst="rect">
            <a:avLst/>
          </a:prstGeom>
        </p:spPr>
      </p:pic>
      <p:pic>
        <p:nvPicPr>
          <p:cNvPr id="13" name="Picture 3">
            <a:extLst>
              <a:ext uri="{FF2B5EF4-FFF2-40B4-BE49-F238E27FC236}">
                <a16:creationId xmlns:a16="http://schemas.microsoft.com/office/drawing/2014/main" id="{61A83EBB-9550-4E9A-9D62-4D2E9BFD9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450" y="1974110"/>
            <a:ext cx="2443100" cy="4254365"/>
          </a:xfrm>
          <a:prstGeom prst="rect">
            <a:avLst/>
          </a:prstGeom>
        </p:spPr>
      </p:pic>
      <p:pic>
        <p:nvPicPr>
          <p:cNvPr id="1026" name="x_Picture 5" descr="image005">
            <a:extLst>
              <a:ext uri="{FF2B5EF4-FFF2-40B4-BE49-F238E27FC236}">
                <a16:creationId xmlns:a16="http://schemas.microsoft.com/office/drawing/2014/main" id="{FF8C672C-7C76-4BF6-BAA9-E2F7D60EE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085" y="1974111"/>
            <a:ext cx="2443100" cy="4254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BA13E4D0-12F7-406F-AE7F-B6B1B17C9167}"/>
              </a:ext>
            </a:extLst>
          </p:cNvPr>
          <p:cNvSpPr/>
          <p:nvPr/>
        </p:nvSpPr>
        <p:spPr>
          <a:xfrm>
            <a:off x="1073086" y="735610"/>
            <a:ext cx="60522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</a:rPr>
              <a:t>HE flow: 1ST click, second click / confirmation, congrats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D62F55C-478A-430C-A644-9C078F2C71CA}"/>
              </a:ext>
            </a:extLst>
          </p:cNvPr>
          <p:cNvSpPr/>
          <p:nvPr/>
        </p:nvSpPr>
        <p:spPr>
          <a:xfrm>
            <a:off x="5672314" y="3239206"/>
            <a:ext cx="936978" cy="234244"/>
          </a:xfrm>
          <a:prstGeom prst="rect">
            <a:avLst/>
          </a:prstGeom>
          <a:solidFill>
            <a:srgbClr val="4FB932"/>
          </a:solidFill>
          <a:ln>
            <a:solidFill>
              <a:srgbClr val="4FB9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1F97A37-3ACC-4E84-A8D5-1BB36E8F12B5}"/>
              </a:ext>
            </a:extLst>
          </p:cNvPr>
          <p:cNvSpPr txBox="1"/>
          <p:nvPr/>
        </p:nvSpPr>
        <p:spPr>
          <a:xfrm>
            <a:off x="5489575" y="3202439"/>
            <a:ext cx="1212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400" b="1" dirty="0">
                <a:solidFill>
                  <a:schemeClr val="bg1"/>
                </a:solidFill>
              </a:rPr>
              <a:t>CONFIRM</a:t>
            </a:r>
            <a:endParaRPr lang="en-GB" sz="1400" b="1" dirty="0">
              <a:solidFill>
                <a:schemeClr val="bg1"/>
              </a:solidFill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40179C8-7469-49D4-8F59-B817A22EFE87}"/>
              </a:ext>
            </a:extLst>
          </p:cNvPr>
          <p:cNvSpPr/>
          <p:nvPr/>
        </p:nvSpPr>
        <p:spPr>
          <a:xfrm>
            <a:off x="1936279" y="3178881"/>
            <a:ext cx="936978" cy="234244"/>
          </a:xfrm>
          <a:prstGeom prst="rect">
            <a:avLst/>
          </a:prstGeom>
          <a:solidFill>
            <a:srgbClr val="4FB932"/>
          </a:solidFill>
          <a:ln>
            <a:solidFill>
              <a:srgbClr val="4FB9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9B4DC37-B290-4793-9A9C-EDD7CE8F53A3}"/>
              </a:ext>
            </a:extLst>
          </p:cNvPr>
          <p:cNvSpPr txBox="1"/>
          <p:nvPr/>
        </p:nvSpPr>
        <p:spPr>
          <a:xfrm>
            <a:off x="1688211" y="3178881"/>
            <a:ext cx="1212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400" b="1" dirty="0">
                <a:solidFill>
                  <a:schemeClr val="bg1"/>
                </a:solidFill>
              </a:rPr>
              <a:t>SUBSCRIBE</a:t>
            </a:r>
            <a:endParaRPr lang="en-GB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643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A5A203-8032-4C33-9809-D66132B52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EXAMPLE – WIFI FLOW</a:t>
            </a:r>
            <a:endParaRPr lang="en-GB" dirty="0"/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3D6A5DBC-B1CD-4956-953A-A992187FA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044" y="1989591"/>
            <a:ext cx="2322470" cy="4095991"/>
          </a:xfrm>
          <a:prstGeom prst="rect">
            <a:avLst/>
          </a:prstGeom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BC0EE266-24C3-42FE-89F1-494939FEF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765" y="1989591"/>
            <a:ext cx="2322470" cy="4095986"/>
          </a:xfrm>
          <a:prstGeom prst="rect">
            <a:avLst/>
          </a:prstGeom>
        </p:spPr>
      </p:pic>
      <p:pic>
        <p:nvPicPr>
          <p:cNvPr id="15" name="Picture 3">
            <a:extLst>
              <a:ext uri="{FF2B5EF4-FFF2-40B4-BE49-F238E27FC236}">
                <a16:creationId xmlns:a16="http://schemas.microsoft.com/office/drawing/2014/main" id="{635AA967-30C1-4179-8D22-3CCE73FDE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7485" y="1989591"/>
            <a:ext cx="2322471" cy="4095986"/>
          </a:xfrm>
          <a:prstGeom prst="rect">
            <a:avLst/>
          </a:prstGeom>
        </p:spPr>
      </p:pic>
      <p:cxnSp>
        <p:nvCxnSpPr>
          <p:cNvPr id="16" name="Conexão reta unidirecional 15">
            <a:extLst>
              <a:ext uri="{FF2B5EF4-FFF2-40B4-BE49-F238E27FC236}">
                <a16:creationId xmlns:a16="http://schemas.microsoft.com/office/drawing/2014/main" id="{8A786492-0C38-491C-B118-CA5EC17F8B0E}"/>
              </a:ext>
            </a:extLst>
          </p:cNvPr>
          <p:cNvCxnSpPr>
            <a:cxnSpLocks/>
          </p:cNvCxnSpPr>
          <p:nvPr/>
        </p:nvCxnSpPr>
        <p:spPr>
          <a:xfrm>
            <a:off x="1073086" y="1601253"/>
            <a:ext cx="10362558" cy="0"/>
          </a:xfrm>
          <a:prstGeom prst="straightConnector1">
            <a:avLst/>
          </a:prstGeom>
          <a:ln>
            <a:solidFill>
              <a:srgbClr val="2680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33F6525C-0760-499D-A448-E0F29452FD25}"/>
              </a:ext>
            </a:extLst>
          </p:cNvPr>
          <p:cNvSpPr/>
          <p:nvPr/>
        </p:nvSpPr>
        <p:spPr>
          <a:xfrm>
            <a:off x="2136681" y="1361355"/>
            <a:ext cx="446568" cy="446568"/>
          </a:xfrm>
          <a:prstGeom prst="ellipse">
            <a:avLst/>
          </a:prstGeom>
          <a:solidFill>
            <a:srgbClr val="268026"/>
          </a:solidFill>
          <a:ln>
            <a:solidFill>
              <a:srgbClr val="268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1</a:t>
            </a:r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3F68CA6-C43F-4A9D-A62D-45722EE651AA}"/>
              </a:ext>
            </a:extLst>
          </p:cNvPr>
          <p:cNvSpPr/>
          <p:nvPr/>
        </p:nvSpPr>
        <p:spPr>
          <a:xfrm>
            <a:off x="5872716" y="1382779"/>
            <a:ext cx="446568" cy="446568"/>
          </a:xfrm>
          <a:prstGeom prst="ellipse">
            <a:avLst/>
          </a:prstGeom>
          <a:solidFill>
            <a:srgbClr val="268026"/>
          </a:solidFill>
          <a:ln>
            <a:solidFill>
              <a:srgbClr val="268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2</a:t>
            </a:r>
            <a:endParaRPr lang="en-GB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C5A4077-A450-44AF-B8D5-538087595D1E}"/>
              </a:ext>
            </a:extLst>
          </p:cNvPr>
          <p:cNvSpPr/>
          <p:nvPr/>
        </p:nvSpPr>
        <p:spPr>
          <a:xfrm>
            <a:off x="9545612" y="1402952"/>
            <a:ext cx="446568" cy="446568"/>
          </a:xfrm>
          <a:prstGeom prst="ellipse">
            <a:avLst/>
          </a:prstGeom>
          <a:solidFill>
            <a:srgbClr val="268026"/>
          </a:solidFill>
          <a:ln>
            <a:solidFill>
              <a:srgbClr val="268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3</a:t>
            </a:r>
            <a:endParaRPr lang="en-GB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CADC37D-E09B-4FFA-BD78-AAA7F459B39F}"/>
              </a:ext>
            </a:extLst>
          </p:cNvPr>
          <p:cNvSpPr/>
          <p:nvPr/>
        </p:nvSpPr>
        <p:spPr>
          <a:xfrm>
            <a:off x="1073086" y="735610"/>
            <a:ext cx="5033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latin typeface="Calibri" panose="020F0502020204030204" pitchFamily="34" charset="0"/>
              </a:rPr>
              <a:t>WIFI FLOW: msisdn page, pin page, congrats</a:t>
            </a:r>
          </a:p>
        </p:txBody>
      </p:sp>
    </p:spTree>
    <p:extLst>
      <p:ext uri="{BB962C8B-B14F-4D97-AF65-F5344CB8AC3E}">
        <p14:creationId xmlns:p14="http://schemas.microsoft.com/office/powerpoint/2010/main" val="1642848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E5E810-05E9-46F7-ABDB-8E9696C8E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Imagem 5" descr="Uma imagem com captura de ecrã, desenho&#10;&#10;Descrição gerada automaticamente">
            <a:extLst>
              <a:ext uri="{FF2B5EF4-FFF2-40B4-BE49-F238E27FC236}">
                <a16:creationId xmlns:a16="http://schemas.microsoft.com/office/drawing/2014/main" id="{3ADA5118-980C-4581-85BC-1F61715841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5" b="5484"/>
          <a:stretch/>
        </p:blipFill>
        <p:spPr>
          <a:xfrm>
            <a:off x="1006642" y="2089369"/>
            <a:ext cx="2534794" cy="4088756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608FC133-6AF6-418A-9982-99E1C117F40E}"/>
              </a:ext>
            </a:extLst>
          </p:cNvPr>
          <p:cNvSpPr/>
          <p:nvPr/>
        </p:nvSpPr>
        <p:spPr>
          <a:xfrm>
            <a:off x="1006642" y="1205954"/>
            <a:ext cx="2534795" cy="986440"/>
          </a:xfrm>
          <a:prstGeom prst="rect">
            <a:avLst/>
          </a:prstGeom>
          <a:solidFill>
            <a:srgbClr val="0082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A77D5C0-FC57-4F52-BD92-8CEA383919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964" y="1032193"/>
            <a:ext cx="1200150" cy="1200150"/>
          </a:xfrm>
          <a:prstGeom prst="rect">
            <a:avLst/>
          </a:prstGeom>
        </p:spPr>
      </p:pic>
      <p:cxnSp>
        <p:nvCxnSpPr>
          <p:cNvPr id="9" name="Conexão reta unidirecional 8">
            <a:extLst>
              <a:ext uri="{FF2B5EF4-FFF2-40B4-BE49-F238E27FC236}">
                <a16:creationId xmlns:a16="http://schemas.microsoft.com/office/drawing/2014/main" id="{C9E95FB7-83DD-4E37-BD87-9F417EC2A974}"/>
              </a:ext>
            </a:extLst>
          </p:cNvPr>
          <p:cNvCxnSpPr/>
          <p:nvPr/>
        </p:nvCxnSpPr>
        <p:spPr>
          <a:xfrm>
            <a:off x="3541436" y="1562100"/>
            <a:ext cx="18859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0C47666-75AB-435A-8BE4-C4B8A0332CA7}"/>
              </a:ext>
            </a:extLst>
          </p:cNvPr>
          <p:cNvSpPr txBox="1"/>
          <p:nvPr/>
        </p:nvSpPr>
        <p:spPr>
          <a:xfrm>
            <a:off x="5641585" y="1365778"/>
            <a:ext cx="5233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/>
              <a:t>This template an example of landing page.</a:t>
            </a:r>
            <a:endParaRPr lang="en-GB" sz="16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E93203D-E826-4C39-B8FD-DE29FB524147}"/>
              </a:ext>
            </a:extLst>
          </p:cNvPr>
          <p:cNvSpPr txBox="1"/>
          <p:nvPr/>
        </p:nvSpPr>
        <p:spPr>
          <a:xfrm>
            <a:off x="5429250" y="2418165"/>
            <a:ext cx="5657850" cy="3008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1600" b="1" dirty="0"/>
              <a:t>Maintaining the layout of the Landing Page, all the following assets can be customizable, provided that each CP will share the information with TWT: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/>
              <a:t>Font </a:t>
            </a:r>
            <a:r>
              <a:rPr lang="pt-PT" sz="1600" dirty="0" err="1"/>
              <a:t>type</a:t>
            </a:r>
            <a:r>
              <a:rPr lang="pt-PT" sz="1600" dirty="0"/>
              <a:t>, color and </a:t>
            </a:r>
            <a:r>
              <a:rPr lang="pt-PT" sz="1600" dirty="0" err="1"/>
              <a:t>size</a:t>
            </a:r>
            <a:r>
              <a:rPr lang="pt-PT" sz="1600" dirty="0"/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/>
              <a:t>Background;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/>
              <a:t>The logo in PNG </a:t>
            </a:r>
            <a:r>
              <a:rPr lang="pt-PT" sz="1600" dirty="0" err="1"/>
              <a:t>customizable</a:t>
            </a:r>
            <a:r>
              <a:rPr lang="pt-PT" sz="1600" dirty="0"/>
              <a:t> for </a:t>
            </a:r>
            <a:r>
              <a:rPr lang="pt-PT" sz="1600" dirty="0" err="1"/>
              <a:t>every</a:t>
            </a:r>
            <a:r>
              <a:rPr lang="pt-PT" sz="1600" dirty="0"/>
              <a:t> </a:t>
            </a:r>
            <a:r>
              <a:rPr lang="pt-PT" sz="1600" dirty="0" err="1"/>
              <a:t>type</a:t>
            </a:r>
            <a:r>
              <a:rPr lang="pt-PT" sz="1600" dirty="0"/>
              <a:t> </a:t>
            </a:r>
            <a:r>
              <a:rPr lang="pt-PT" sz="1600" dirty="0" err="1"/>
              <a:t>of</a:t>
            </a:r>
            <a:r>
              <a:rPr lang="pt-PT" sz="1600" dirty="0"/>
              <a:t> background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 err="1"/>
              <a:t>Buttons</a:t>
            </a:r>
            <a:r>
              <a:rPr lang="pt-PT" sz="16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 err="1"/>
              <a:t>Image</a:t>
            </a:r>
            <a:endParaRPr lang="en-GB" sz="1600" dirty="0"/>
          </a:p>
        </p:txBody>
      </p:sp>
      <p:sp>
        <p:nvSpPr>
          <p:cNvPr id="11" name="Retângulo 19">
            <a:extLst>
              <a:ext uri="{FF2B5EF4-FFF2-40B4-BE49-F238E27FC236}">
                <a16:creationId xmlns:a16="http://schemas.microsoft.com/office/drawing/2014/main" id="{A305D8E5-D797-43BB-87AE-45CABA77A0B8}"/>
              </a:ext>
            </a:extLst>
          </p:cNvPr>
          <p:cNvSpPr/>
          <p:nvPr/>
        </p:nvSpPr>
        <p:spPr>
          <a:xfrm>
            <a:off x="1073086" y="735610"/>
            <a:ext cx="22762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latin typeface="Calibri" panose="020F0502020204030204" pitchFamily="34" charset="0"/>
              </a:rPr>
              <a:t>Customizable Pages</a:t>
            </a:r>
          </a:p>
        </p:txBody>
      </p:sp>
    </p:spTree>
    <p:extLst>
      <p:ext uri="{BB962C8B-B14F-4D97-AF65-F5344CB8AC3E}">
        <p14:creationId xmlns:p14="http://schemas.microsoft.com/office/powerpoint/2010/main" val="23855975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149</Words>
  <Application>Microsoft Office PowerPoint</Application>
  <PresentationFormat>Widescreen</PresentationFormat>
  <Paragraphs>32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PowerPoint Presentation</vt:lpstr>
      <vt:lpstr>Introducing DOI</vt:lpstr>
      <vt:lpstr>EXAMPLE – HE FLOW</vt:lpstr>
      <vt:lpstr>EXAMPLE – WIFI FLOW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Madalena Duarte</dc:creator>
  <cp:lastModifiedBy>Danisha Gulamali</cp:lastModifiedBy>
  <cp:revision>4</cp:revision>
  <dcterms:created xsi:type="dcterms:W3CDTF">2020-05-25T12:02:07Z</dcterms:created>
  <dcterms:modified xsi:type="dcterms:W3CDTF">2020-05-25T14:02:42Z</dcterms:modified>
</cp:coreProperties>
</file>